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1600"/>
            </a:pPr>
            <a:r>
              <a:t>SMART INDIA HACKATHON 2026</a:t>
            </a:r>
          </a:p>
          <a:p>
            <a:pPr>
              <a:defRPr sz="1600"/>
            </a:pPr>
            <a:r>
              <a:t>TITLE PAGE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600"/>
            </a:pPr>
            <a:r>
              <a:t>Problem Statement ID: 26082</a:t>
            </a:r>
          </a:p>
          <a:p>
            <a:pPr>
              <a:defRPr sz="1600"/>
            </a:pPr>
            <a:r>
              <a:t>Problem Statement Title: Air Pollution–Weather Coupled Forecasting System (Delhi NCR Focus)</a:t>
            </a:r>
          </a:p>
          <a:p>
            <a:pPr>
              <a:defRPr sz="1600"/>
            </a:pPr>
            <a:r>
              <a:t>Theme: Clean &amp; Green Technology</a:t>
            </a:r>
          </a:p>
          <a:p>
            <a:pPr>
              <a:defRPr sz="1600"/>
            </a:pPr>
            <a:r>
              <a:t>PS Category: Software</a:t>
            </a:r>
          </a:p>
          <a:p>
            <a:pPr>
              <a:defRPr sz="1600"/>
            </a:pPr>
            <a:r>
              <a:t>Team ID: [Fill Team ID here]</a:t>
            </a:r>
          </a:p>
          <a:p>
            <a:pPr>
              <a:defRPr sz="1600"/>
            </a:pPr>
            <a:r>
              <a:t>Team Name: H2KNOW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IDEA TITLE: AeroSync - Hybrid Physics-AI Air Quality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Proposed Solution:</a:t>
            </a:r>
          </a:p>
          <a:p>
            <a:pPr>
              <a:defRPr sz="1600"/>
            </a:pPr>
            <a:r>
              <a:t>• Two-Stage Architecture: C++ Physics Engine (meteorology + chemistry) + TensorFlow AI Model.</a:t>
            </a:r>
          </a:p>
          <a:p>
            <a:pPr>
              <a:defRPr sz="1600"/>
            </a:pPr>
            <a:r>
              <a:t>• Zero-Database Design: Ultra-fast processing using JSON/CSV.</a:t>
            </a:r>
          </a:p>
          <a:p>
            <a:br/>
            <a:pPr>
              <a:defRPr sz="1600"/>
            </a:pPr>
            <a:r>
              <a:t>How it addresses the problem:</a:t>
            </a:r>
          </a:p>
          <a:p>
            <a:pPr>
              <a:defRPr sz="1600"/>
            </a:pPr>
            <a:r>
              <a:t>• Coupled Feedback: Models how PM2.5 blocks sunlight and traps more pollution.</a:t>
            </a:r>
          </a:p>
          <a:p>
            <a:pPr>
              <a:defRPr sz="1600"/>
            </a:pPr>
            <a:r>
              <a:t>• Human Factors: AI adjusts physics for Diwali, holidays, and traffic.</a:t>
            </a:r>
          </a:p>
          <a:p>
            <a:br/>
            <a:pPr>
              <a:defRPr sz="1600"/>
            </a:pPr>
            <a:r>
              <a:t>Innovation and Uniqueness:</a:t>
            </a:r>
          </a:p>
          <a:p>
            <a:pPr>
              <a:defRPr sz="1600"/>
            </a:pPr>
            <a:r>
              <a:t>• Merges deterministic science (WRF-Chem) with machine learning (LSTM).</a:t>
            </a:r>
          </a:p>
          <a:p>
            <a:pPr>
              <a:defRPr sz="1600"/>
            </a:pPr>
            <a:r>
              <a:t>• Dynamic Stubble Tracking: Simulates Punjab/Haryana crop fires explicitly.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TECHNICAL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Technologies to be used:</a:t>
            </a:r>
          </a:p>
          <a:p>
            <a:pPr>
              <a:defRPr sz="1600"/>
            </a:pPr>
            <a:r>
              <a:t>• Core Physics Engine: C++17, OpenMP, pybind11</a:t>
            </a:r>
          </a:p>
          <a:p>
            <a:pPr>
              <a:defRPr sz="1600"/>
            </a:pPr>
            <a:r>
              <a:t>• AI &amp; API Backend: Python 3.10, TensorFlow / Keras, FastAPI, Pandas</a:t>
            </a:r>
          </a:p>
          <a:p>
            <a:pPr>
              <a:defRPr sz="1600"/>
            </a:pPr>
            <a:r>
              <a:t>• Frontend Dashboard: HTML5, CSS Grid, Vanilla JS, Leaflet.js, Chart.js</a:t>
            </a:r>
          </a:p>
          <a:p>
            <a:br/>
            <a:pPr>
              <a:defRPr sz="1600"/>
            </a:pPr>
            <a:r>
              <a:t>Methodology (Flow):</a:t>
            </a:r>
          </a:p>
          <a:p>
            <a:pPr>
              <a:defRPr sz="1600"/>
            </a:pPr>
            <a:r>
              <a:t>1. C++ Simulator: Calculates Wind + Temp + PBL Height &lt;-&gt; PM2.5</a:t>
            </a:r>
          </a:p>
          <a:p>
            <a:pPr>
              <a:defRPr sz="1600"/>
            </a:pPr>
            <a:r>
              <a:t>2. pybind11 Bridge: Transfers memory to Python (Zero-copy).</a:t>
            </a:r>
          </a:p>
          <a:p>
            <a:pPr>
              <a:defRPr sz="1600"/>
            </a:pPr>
            <a:r>
              <a:t>3. TensorFlow AI: Adds Stubble Burning + Traffic + Diwali data -&gt; Bias Correction.</a:t>
            </a:r>
          </a:p>
          <a:p>
            <a:pPr>
              <a:defRPr sz="1600"/>
            </a:pPr>
            <a:r>
              <a:t>4. FastAPI &amp; Frontend: Serves 72-Hour Predictions via REST API.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FEASIBILITY AND VIABILITY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Analysis of Feasibility:</a:t>
            </a:r>
          </a:p>
          <a:p>
            <a:pPr>
              <a:defRPr sz="1600"/>
            </a:pPr>
            <a:r>
              <a:t>• High Performance: C++ for physics + Python for ML guarantees production-grade speed.</a:t>
            </a:r>
          </a:p>
          <a:p>
            <a:pPr>
              <a:defRPr sz="1600"/>
            </a:pPr>
            <a:r>
              <a:t>• Cost-Effective: Zero-database architecture drastically reduces cloud hosting costs.</a:t>
            </a:r>
          </a:p>
          <a:p>
            <a:br/>
            <a:pPr>
              <a:defRPr sz="1600"/>
            </a:pPr>
            <a:r>
              <a:t>Potential Challenges and Risks:</a:t>
            </a:r>
          </a:p>
          <a:p>
            <a:pPr>
              <a:defRPr sz="1600"/>
            </a:pPr>
            <a:r>
              <a:t>• Data Latency: Real-time CPCB sensor data APIs can experience downtime.</a:t>
            </a:r>
          </a:p>
          <a:p>
            <a:pPr>
              <a:defRPr sz="1600"/>
            </a:pPr>
            <a:r>
              <a:t>• Computational Load: Running 3D physical grids is CPU-intensive.</a:t>
            </a:r>
          </a:p>
          <a:p>
            <a:br/>
            <a:pPr>
              <a:defRPr sz="1600"/>
            </a:pPr>
            <a:r>
              <a:t>Strategies for Overcoming Challenges:</a:t>
            </a:r>
          </a:p>
          <a:p>
            <a:pPr>
              <a:defRPr sz="1600"/>
            </a:pPr>
            <a:r>
              <a:t>• Fallback Mechanisms: Built-in synthetic data generators.</a:t>
            </a:r>
          </a:p>
          <a:p>
            <a:pPr>
              <a:defRPr sz="1600"/>
            </a:pPr>
            <a:r>
              <a:t>• Hardware Optimization: OpenMP multithreading for CPU utilization.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IMPACT AND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Potential Impact on Target Audience:</a:t>
            </a:r>
          </a:p>
          <a:p>
            <a:pPr>
              <a:defRPr sz="1600"/>
            </a:pPr>
            <a:r>
              <a:t>• Citizens: 72-hour advanced warnings to plan outdoor activities.</a:t>
            </a:r>
          </a:p>
          <a:p>
            <a:pPr>
              <a:defRPr sz="1600"/>
            </a:pPr>
            <a:r>
              <a:t>• Policymakers: Precise tracking of stubble burning vs. local traffic for GRAP.</a:t>
            </a:r>
          </a:p>
          <a:p>
            <a:br/>
            <a:pPr>
              <a:defRPr sz="1600"/>
            </a:pPr>
            <a:r>
              <a:t>Benefits of the Solution:</a:t>
            </a:r>
          </a:p>
          <a:p>
            <a:pPr>
              <a:defRPr sz="1600"/>
            </a:pPr>
            <a:r>
              <a:t>• Social: Empowers NCR residents with actionable health data.</a:t>
            </a:r>
          </a:p>
          <a:p>
            <a:pPr>
              <a:defRPr sz="1600"/>
            </a:pPr>
            <a:r>
              <a:t>• Economic: Reduces hospital admissions and economic loss.</a:t>
            </a:r>
          </a:p>
          <a:p>
            <a:pPr>
              <a:defRPr sz="1600"/>
            </a:pPr>
            <a:r>
              <a:t>• Environmental: Identifies exact pollution origins.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1600"/>
            </a:pPr>
            <a:r>
              <a:t>RESEARCH AND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Details / Links of Reference and Research Work:</a:t>
            </a:r>
          </a:p>
          <a:p>
            <a:pPr>
              <a:defRPr sz="1600"/>
            </a:pPr>
            <a:r>
              <a:t>• AQI Standards: Central Pollution Control Board (CPCB) NAQI guidelines.</a:t>
            </a:r>
          </a:p>
          <a:p>
            <a:pPr>
              <a:defRPr sz="1600"/>
            </a:pPr>
            <a:r>
              <a:t>• Physics Modeling: NCAR WRF-Chem documentation.</a:t>
            </a:r>
          </a:p>
          <a:p>
            <a:pPr>
              <a:defRPr sz="1600"/>
            </a:pPr>
            <a:r>
              <a:t>• Stubble Burning Data: NASA VIIRS and MODIS Fire Radiative Power datasets.</a:t>
            </a:r>
          </a:p>
          <a:p>
            <a:pPr>
              <a:defRPr sz="1600"/>
            </a:pPr>
            <a:r>
              <a:t>• Key Research 1: Impact of Aerosol-Radiation Feedback on PM2.5 in Indo-Gangetic Plains</a:t>
            </a:r>
          </a:p>
          <a:p>
            <a:pPr>
              <a:defRPr sz="1600"/>
            </a:pPr>
            <a:r>
              <a:t>• Key Research 2: Deep Learning for Post-Processing Numerical Weather Predictions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